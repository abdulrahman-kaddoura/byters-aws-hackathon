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0:00–0:15 — Hi, we're Byters. Sehati is an AI clinical co-pilot for hospital wards. Everything you'll see runs on a deployed AWS stack — no demo data, no in-browser fakes.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0:15–0:30 — One line each, then move. The point of this slide is team–market fit: we started from clinician interviews, not from a model. [Fill in real names, years and roles before presenting.]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0:30–0:50 — Read the quote slowly; it is the emotional core of the pitch. Four separate doctors, four complaints, one shape: they are reasoning alone with bad inputs and no time. [Swap in a real named quote if you have consent.]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0:50–1:10 — Four complaints, one problem. Land the bottom line: this happens on every admission, it is the most expensive thing that can go wrong, and the doctor-to-patient ratio is moving the wrong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1:10–1:25 — Say the three enablers fast. The bracketed figures are deliberate blanks: drop in numbers you can cite out loud, or delete the stat strip. Never present an unverifiable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1:25–1:50 — Walk the five steps in one breath each. Stress step 2 (the AI gets a full history because it is never in a hurry) and step 4 (results-driven, not intake-driven). Close on the security line — it's what makes this deployable in a hospital.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1:50–2:10 — This is the slide that wins the pitch. The differentiator is not that we produce a differential — it's that the doctor can push back on it and get a real argument, with citations, while staying legally and clinically in charge.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2:10–2:20 — Don't read this slide. Point at it: every row on the left came out of a doctor's mouth, every row on the right is shipped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2:20–2:45 — Play the recorded video (25s max). Narrate only two moments: the patient talking to the locked tablet, and the doctor asking "why not PE?" and getting a reasoned answer. Replace this slide with the embedded video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2:45–2:55 — Own the gap instead of hiding it: we know the buyer and the wedge, we're pricing it against real usage. Judges respect "we haven't made the number up yet" more than a fabricated tier table. Replace this slide once you have the pilot costing.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2:55–3:05 — One sentence: everyone else either transcribes or answers; we're the only one inside the decision, which is why our feedback loop compounds.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3:05–3:15 — Fast. The point is that the hard part — the workflow, the security model, the audit trail — is done; these are plug-ins to seams that already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Q&amp;A. Have ready: (1) how we prevent automation bias — rejections require a written reason; (2) where PHI lives — KMS-encrypted DynamoDB/S3, immutable WORM audit; (3) regulatory posture — decision support presented for independent review, not a directive.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89720" y="960120"/>
            <a:ext cx="3108960" cy="3108960"/>
          </a:xfrm>
          <a:prstGeom prst="ellipse">
            <a:avLst/>
          </a:prstGeom>
          <a:ln w="25400">
            <a:solidFill>
              <a:srgbClr val="1E4A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29800" y="1600200"/>
            <a:ext cx="1828800" cy="1828800"/>
          </a:xfrm>
          <a:prstGeom prst="ellipse">
            <a:avLst/>
          </a:prstGeom>
          <a:ln w="19050">
            <a:solidFill>
              <a:srgbClr val="2460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2331720"/>
            <a:ext cx="365760" cy="3657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6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BYTERS  ·  AMAZON INDUSTRY PROGRAM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Sehati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clinical co-pilot for hospital wards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777240" cy="320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069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9F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didn’t start from the technology.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9F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started from what doctors told us they were missing.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AWS  ·  Cognito · API Gateway · Lambda · DynamoDB · Bedrock · HealthScribe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1371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we the right team to solve this?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2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builders who shipped the full stack — and the clinicians who briefed us at every step.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542032" cy="3566160"/>
          </a:xfrm>
          <a:prstGeom prst="roundRect">
            <a:avLst>
              <a:gd name="adj" fmla="val 4317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08760" y="2103120"/>
            <a:ext cx="804672" cy="804672"/>
          </a:xfrm>
          <a:prstGeom prst="ellipse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08760" y="210312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Abdulrahman Kaddoura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1188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AWS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950208"/>
            <a:ext cx="2084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authorization boundary, DynamoDB data model, CDK stack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10712" y="1783080"/>
            <a:ext cx="2542032" cy="3566160"/>
          </a:xfrm>
          <a:prstGeom prst="roundRect">
            <a:avLst>
              <a:gd name="adj" fmla="val 4317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79392" y="2103120"/>
            <a:ext cx="804672" cy="804672"/>
          </a:xfrm>
          <a:prstGeom prst="ellipse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79392" y="210312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306324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2]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361188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39312" y="3950208"/>
            <a:ext cx="2084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case workspace, locked interview device, assistant panel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81344" y="1783080"/>
            <a:ext cx="2542032" cy="3566160"/>
          </a:xfrm>
          <a:prstGeom prst="roundRect">
            <a:avLst>
              <a:gd name="adj" fmla="val 4317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50024" y="2103120"/>
            <a:ext cx="804672" cy="804672"/>
          </a:xfrm>
          <a:prstGeom prst="ellipse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50024" y="210312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364224" y="306324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3]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364224" y="361188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Bedrock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9944" y="3950208"/>
            <a:ext cx="2084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prompting, guardrails, grounded citations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51976" y="1783080"/>
            <a:ext cx="2542032" cy="3566160"/>
          </a:xfrm>
          <a:prstGeom prst="roundRect">
            <a:avLst>
              <a:gd name="adj" fmla="val 4317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820656" y="2103120"/>
            <a:ext cx="804672" cy="804672"/>
          </a:xfrm>
          <a:prstGeom prst="ellipse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20656" y="210312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06324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4]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134856" y="361188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liaison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180576" y="3950208"/>
            <a:ext cx="2084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interviews, workflow validation, safety review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C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Team–problem fit: we didn’t pick a technology and hunt for a use case. We sat with doctors, wrote down what they said, and built only that.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1371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6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CAME FROM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doctors actually told us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778240" y="1920240"/>
            <a:ext cx="3017520" cy="3017520"/>
          </a:xfrm>
          <a:prstGeom prst="ellipse">
            <a:avLst/>
          </a:prstGeom>
          <a:ln w="25400">
            <a:solidFill>
              <a:srgbClr val="1E4A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0" y="4709160"/>
            <a:ext cx="256032" cy="256032"/>
          </a:xfrm>
          <a:prstGeom prst="ellipse">
            <a:avLst/>
          </a:prstGeom>
          <a:solidFill>
            <a:srgbClr val="E8955A"/>
          </a:solidFill>
          <a:ln w="12700">
            <a:solidFill>
              <a:srgbClr val="E895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10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91640"/>
            <a:ext cx="7315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i="1" dirty="0">
                <a:solidFill>
                  <a:srgbClr val="D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 3 a.m. I’m alone with the case. The history I get is thin and second-hand, I have minutes per patient, and once I’ve named the first diagnosis in my head it’s hard to un-name it.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i="1" dirty="0">
                <a:solidFill>
                  <a:srgbClr val="D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don’t need a machine to tell me the answer. I need someone to argue with.”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of the interviews behind Sehati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234440" y="534924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6323F"/>
          </a:solidFill>
          <a:ln w="12700">
            <a:solidFill>
              <a:srgbClr val="2750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34440" y="5349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F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alone at the decision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66160" y="534924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6323F"/>
          </a:solidFill>
          <a:ln w="12700">
            <a:solidFill>
              <a:srgbClr val="2750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5349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F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history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97880" y="534924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6323F"/>
          </a:solidFill>
          <a:ln w="12700">
            <a:solidFill>
              <a:srgbClr val="2750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97880" y="5349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F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per patient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0" y="534924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6323F"/>
          </a:solidFill>
          <a:ln w="12700">
            <a:solidFill>
              <a:srgbClr val="2750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0" y="5349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F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1371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 is a thinking problem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56232"/>
            <a:ext cx="457200" cy="457200"/>
          </a:xfrm>
          <a:prstGeom prst="ellipse">
            <a:avLst/>
          </a:prstGeom>
          <a:solidFill>
            <a:srgbClr val="E8955A"/>
          </a:solidFill>
          <a:ln w="12700">
            <a:solidFill>
              <a:srgbClr val="E895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72768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reasons alone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20848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colleague is free at the moment of decision — the second opinion arrives days later, if at all.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971800"/>
            <a:ext cx="457200" cy="457200"/>
          </a:xfrm>
          <a:prstGeom prst="ellipse">
            <a:avLst/>
          </a:prstGeom>
          <a:solidFill>
            <a:srgbClr val="E8955A"/>
          </a:solidFill>
          <a:ln w="12700">
            <a:solidFill>
              <a:srgbClr val="E89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572768" y="28529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history arrives thin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572768" y="3200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Rushed, second-hand intake. Patients under-report to a clinician who is visibly short of time.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831336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087368"/>
            <a:ext cx="457200" cy="457200"/>
          </a:xfrm>
          <a:prstGeom prst="ellipse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72768" y="39684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hypothesis sticks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572768" y="43159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 closes the differential early; the rare diagnosis is reached late or not at all.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946904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5202936"/>
            <a:ext cx="457200" cy="457200"/>
          </a:xfrm>
          <a:prstGeom prst="ellipse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572768" y="50840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eats the minutes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1572768" y="543153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crowds out the part of the job only a doctor can do.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· every admission.    Expensive · the ward’s costliest event.    Growing · fewer doctors, more patients.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1371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6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only became true recently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16323F"/>
          </a:solidFill>
          <a:ln w="12700">
            <a:solidFill>
              <a:srgbClr val="2450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03120"/>
            <a:ext cx="402336" cy="40233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697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can hold a case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1546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F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reasoning models now sustain a multi-step clinical argument with citations — not a symptom lookup.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16323F"/>
          </a:solidFill>
          <a:ln w="12700">
            <a:solidFill>
              <a:srgbClr val="2450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103120"/>
            <a:ext cx="402336" cy="40233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697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guardrails exist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1546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F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Guardrails, HealthScribe, KMS, WORM audit: the compliance-grade primitives ship as managed services.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78308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16323F"/>
          </a:solidFill>
          <a:ln w="12700">
            <a:solidFill>
              <a:srgbClr val="2450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103120"/>
            <a:ext cx="402336" cy="40233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697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pressure is peaking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1546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F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shortage and burnout are at record levels; hospitals are actively buying decision support.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7091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 %  ]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44068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FA8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diagnoses that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FA8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delayed or wrong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47091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 #  ]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544068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FA8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per doctor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FA8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public ward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47091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 $  ]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544068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FA8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one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FA8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diagnosis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1371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door to the sign-off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2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Sehati carries the whole case — and the doctor signs every step of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048256" cy="2514600"/>
          </a:xfrm>
          <a:prstGeom prst="roundRect">
            <a:avLst>
              <a:gd name="adj" fmla="val 5357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89888" y="2212848"/>
            <a:ext cx="548640" cy="548640"/>
          </a:xfrm>
          <a:prstGeom prst="ellipse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89888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4612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enters vitals only. No symptom fields.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30175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2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871216" y="1920240"/>
            <a:ext cx="2048256" cy="2514600"/>
          </a:xfrm>
          <a:prstGeom prst="roundRect">
            <a:avLst>
              <a:gd name="adj" fmla="val 5357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21024" y="2212848"/>
            <a:ext cx="548640" cy="548640"/>
          </a:xfrm>
          <a:prstGeom prst="ellipse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21024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008376" y="288036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008376" y="324612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tablet locks and the AI interviews the patient directly.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882896" y="30175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2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102352" y="1920240"/>
            <a:ext cx="2048256" cy="2514600"/>
          </a:xfrm>
          <a:prstGeom prst="roundRect">
            <a:avLst>
              <a:gd name="adj" fmla="val 5357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52160" y="2212848"/>
            <a:ext cx="548640" cy="548640"/>
          </a:xfrm>
          <a:prstGeom prst="ellipse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52160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239512" y="288036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workup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239512" y="324612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exams and tests, each with its reason.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175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2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333488" y="1920240"/>
            <a:ext cx="2048256" cy="2514600"/>
          </a:xfrm>
          <a:prstGeom prst="roundRect">
            <a:avLst>
              <a:gd name="adj" fmla="val 5357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83296" y="2212848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83296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70648" y="288036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7470648" y="324612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results — ranked and cited, or honestly “not sure”.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345168" y="30175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2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564624" y="1920240"/>
            <a:ext cx="2048256" cy="2514600"/>
          </a:xfrm>
          <a:prstGeom prst="roundRect">
            <a:avLst>
              <a:gd name="adj" fmla="val 5357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314432" y="2212848"/>
            <a:ext cx="548640" cy="548640"/>
          </a:xfrm>
          <a:prstGeom prst="ellipse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314432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701784" y="288036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9701784" y="324612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diagnosis, ruled-out alternatives, treatment plan.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49377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C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rules are enforced in the Lambda, not the browser: a doctor can only reach cases assigned to them, and a nurse’s response never contains clinical content — it isn’t stripped in the UI, it isn’t in the payload.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1371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6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VALUE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argues with the doctor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298448"/>
          </a:xfrm>
          <a:prstGeom prst="roundRect">
            <a:avLst>
              <a:gd name="adj" fmla="val 8451"/>
            </a:avLst>
          </a:prstGeom>
          <a:solidFill>
            <a:srgbClr val="16323F"/>
          </a:solidFill>
          <a:ln w="12700">
            <a:solidFill>
              <a:srgbClr val="2450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075688"/>
            <a:ext cx="530352" cy="530352"/>
          </a:xfrm>
          <a:prstGeom prst="ellipse">
            <a:avLst/>
          </a:prstGeom>
          <a:ln w="25400">
            <a:solidFill>
              <a:srgbClr val="6FE3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3856" y="2249424"/>
            <a:ext cx="182880" cy="182880"/>
          </a:xfrm>
          <a:prstGeom prst="ellipse">
            <a:avLst/>
          </a:prstGeom>
          <a:solidFill>
            <a:srgbClr val="6FE3C4"/>
          </a:solidFill>
          <a:ln w="12700">
            <a:solidFill>
              <a:srgbClr val="6FE3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37360" y="18928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 to think with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7452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B9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diagnosis has its own chat. “Why not pulmonary embolism?” gets a reasoned answer, not a re-ranked list. This is the colleague who isn’t there at 3 a.m.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10881360" cy="1298448"/>
          </a:xfrm>
          <a:prstGeom prst="roundRect">
            <a:avLst>
              <a:gd name="adj" fmla="val 8451"/>
            </a:avLst>
          </a:prstGeom>
          <a:solidFill>
            <a:srgbClr val="16323F"/>
          </a:solidFill>
          <a:ln w="12700">
            <a:solidFill>
              <a:srgbClr val="2450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538728"/>
            <a:ext cx="530352" cy="530352"/>
          </a:xfrm>
          <a:prstGeom prst="ellipse">
            <a:avLst/>
          </a:prstGeom>
          <a:ln w="2540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3856" y="3712464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37360" y="33558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you can audit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33756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B9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explanation, risk, references and similar cases attached to each diagnosis. The doctor checks the reasoning, not the vibe.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10881360" cy="1298448"/>
          </a:xfrm>
          <a:prstGeom prst="roundRect">
            <a:avLst>
              <a:gd name="adj" fmla="val 8451"/>
            </a:avLst>
          </a:prstGeom>
          <a:solidFill>
            <a:srgbClr val="16323F"/>
          </a:solidFill>
          <a:ln w="12700">
            <a:solidFill>
              <a:srgbClr val="2450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5001768"/>
            <a:ext cx="530352" cy="530352"/>
          </a:xfrm>
          <a:prstGeom prst="ellipse">
            <a:avLst/>
          </a:prstGeom>
          <a:ln w="2540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3856" y="5175504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737360" y="4818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stays the decision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480060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B9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Rejections require a written reason. The AI is never the authorization boundary. Every action is written to an immutable audit trail.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8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directive. A brainstorming partner that shows its work — which is exactly what the doctors asked for.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1371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PROBLEM–SOLUTION FIT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complaint has an answer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told us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417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Sehati does about 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4937760" cy="868680"/>
          </a:xfrm>
          <a:prstGeom prst="roundRect">
            <a:avLst>
              <a:gd name="adj" fmla="val 12632"/>
            </a:avLst>
          </a:prstGeom>
          <a:solidFill>
            <a:srgbClr val="FBF0E9"/>
          </a:solidFill>
          <a:ln w="12700">
            <a:solidFill>
              <a:srgbClr val="FBF0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8288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alone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18288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2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0" y="18288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Per-diagnosis discussion chat — challenge the reasoning, get an argument back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52928"/>
            <a:ext cx="4937760" cy="868680"/>
          </a:xfrm>
          <a:prstGeom prst="roundRect">
            <a:avLst>
              <a:gd name="adj" fmla="val 12632"/>
            </a:avLst>
          </a:prstGeom>
          <a:solidFill>
            <a:srgbClr val="FBF0E9"/>
          </a:solidFill>
          <a:ln w="12700">
            <a:solidFill>
              <a:srgbClr val="FBF0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85292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Thin, second-hand history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2852928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2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0" y="2852928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285292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interviews the patient on a locked device, then hands over a structured summary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877056"/>
            <a:ext cx="4937760" cy="868680"/>
          </a:xfrm>
          <a:prstGeom prst="roundRect">
            <a:avLst>
              <a:gd name="adj" fmla="val 12632"/>
            </a:avLst>
          </a:prstGeom>
          <a:solidFill>
            <a:srgbClr val="FBF0E9"/>
          </a:solidFill>
          <a:ln w="12700">
            <a:solidFill>
              <a:srgbClr val="FBF0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877056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 on the first idea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3877056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2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0" y="3877056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0" y="3877056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re-ranks on results, and says “not sure” by ordering more tests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901184"/>
            <a:ext cx="4937760" cy="868680"/>
          </a:xfrm>
          <a:prstGeom prst="roundRect">
            <a:avLst>
              <a:gd name="adj" fmla="val 12632"/>
            </a:avLst>
          </a:prstGeom>
          <a:solidFill>
            <a:srgbClr val="FBF0E9"/>
          </a:solidFill>
          <a:ln w="12700">
            <a:solidFill>
              <a:srgbClr val="FBF0E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4901184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Can’t trust a black box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4901184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2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400800" y="4901184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0" y="4901184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Citations, confidence explanations, ruled-out alternatives, immutable audit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840480"/>
            <a:ext cx="3291840" cy="3291840"/>
          </a:xfrm>
          <a:prstGeom prst="ellipse">
            <a:avLst/>
          </a:prstGeom>
          <a:ln w="25400">
            <a:solidFill>
              <a:srgbClr val="1A42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365760"/>
            <a:ext cx="3108960" cy="3108960"/>
          </a:xfrm>
          <a:prstGeom prst="ellipse">
            <a:avLst/>
          </a:prstGeom>
          <a:ln w="25400">
            <a:solidFill>
              <a:srgbClr val="1A42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5120640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28600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spc="8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8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57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your video link here ]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97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8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case, end to end — admission, AI interview, differential, and a doctor pushing back on it.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1371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pays, and for what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920240"/>
            <a:ext cx="365760" cy="3657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423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7889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hospital, not the individual doctor. Budget sits with the medical director; the ward is the unit of adoption.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0288" y="1920240"/>
            <a:ext cx="365760" cy="3657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0288" y="2423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27889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pilot ward → the department → the hospital → the network. Assignment-based access makes a single-ward pilot trivial.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55280" y="164592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47888" y="1920240"/>
            <a:ext cx="365760" cy="3657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47888" y="2423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scales the price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247888" y="27889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on the platform and cases worked up. Cost scales the same way — the stack is serverless and idles at zero.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10881360" cy="1554480"/>
          </a:xfrm>
          <a:prstGeom prst="roundRect">
            <a:avLst>
              <a:gd name="adj" fmla="val 7059"/>
            </a:avLst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452628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still being worked out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956048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9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would rather show you the shape of the model than invent tiers we can’t defend. We’re costing a pilot ward against real Bedrock and HealthScribe usage now, and the number lands before the next milestone.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1371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0" y="1600200"/>
            <a:ext cx="6949440" cy="4114800"/>
          </a:xfrm>
          <a:prstGeom prst="rect">
            <a:avLst/>
          </a:prstGeom>
          <a:solidFill>
            <a:srgbClr val="F1F5F6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3657600"/>
            <a:ext cx="6949440" cy="0"/>
          </a:xfrm>
          <a:prstGeom prst="line">
            <a:avLst/>
          </a:prstGeom>
          <a:noFill/>
          <a:ln w="15875">
            <a:solidFill>
              <a:srgbClr val="C3D1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0" y="1600200"/>
            <a:ext cx="0" cy="4114800"/>
          </a:xfrm>
          <a:prstGeom prst="line">
            <a:avLst/>
          </a:prstGeom>
          <a:noFill/>
          <a:ln w="15875">
            <a:solidFill>
              <a:srgbClr val="C3D1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00400" y="121615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2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case workflow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578815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2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Bolt-on to the note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160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2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an answer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8700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with you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53128" y="4681728"/>
            <a:ext cx="237744" cy="237744"/>
          </a:xfrm>
          <a:prstGeom prst="ellipse">
            <a:avLst/>
          </a:prstGeom>
          <a:solidFill>
            <a:srgbClr val="9BB0B8"/>
          </a:solidFill>
          <a:ln w="12700">
            <a:solidFill>
              <a:srgbClr val="9BB0B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0" y="49743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2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checkers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93208" y="2532888"/>
            <a:ext cx="237744" cy="237744"/>
          </a:xfrm>
          <a:prstGeom prst="ellipse">
            <a:avLst/>
          </a:prstGeom>
          <a:solidFill>
            <a:srgbClr val="9BB0B8"/>
          </a:solidFill>
          <a:ln w="12700">
            <a:solidFill>
              <a:srgbClr val="9BB0B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40480" y="28254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2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scribes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58968" y="3858768"/>
            <a:ext cx="237744" cy="237744"/>
          </a:xfrm>
          <a:prstGeom prst="ellipse">
            <a:avLst/>
          </a:prstGeom>
          <a:solidFill>
            <a:srgbClr val="9BB0B8"/>
          </a:solidFill>
          <a:ln w="12700">
            <a:solidFill>
              <a:srgbClr val="9BB0B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06240" y="41513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2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suggestion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2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02168" y="4910328"/>
            <a:ext cx="237744" cy="237744"/>
          </a:xfrm>
          <a:prstGeom prst="ellipse">
            <a:avLst/>
          </a:prstGeom>
          <a:solidFill>
            <a:srgbClr val="9BB0B8"/>
          </a:solidFill>
          <a:ln w="12700">
            <a:solidFill>
              <a:srgbClr val="9BB0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52029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2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search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2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403336" y="2459736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23760" y="2898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Sehati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moat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01168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C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Scribes capture the visit but never reason. Symptom checkers reason but never touch the ward. Only Sehati sits inside the decision — so every accepted or rejected recommendation feeds back to us.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1371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6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PLANS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has a long way to run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42032" cy="3383280"/>
          </a:xfrm>
          <a:prstGeom prst="roundRect">
            <a:avLst>
              <a:gd name="adj" fmla="val 4317"/>
            </a:avLst>
          </a:prstGeom>
          <a:solidFill>
            <a:srgbClr val="16323F"/>
          </a:solidFill>
          <a:ln w="12700">
            <a:solidFill>
              <a:srgbClr val="24505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84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knowledge base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0040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F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Knowledge Bases + S3 Vectors over a curated corpus — PMC, ClinicalTrials.gov, openFDA, ICD-10 — replacing today’s keyword matching.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182112" y="32918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10712" y="1828800"/>
            <a:ext cx="2542032" cy="3383280"/>
          </a:xfrm>
          <a:prstGeom prst="roundRect">
            <a:avLst>
              <a:gd name="adj" fmla="val 4317"/>
            </a:avLst>
          </a:prstGeom>
          <a:solidFill>
            <a:srgbClr val="16323F"/>
          </a:solidFill>
          <a:ln w="12700">
            <a:solidFill>
              <a:srgbClr val="2450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85032" y="2084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685032" y="2423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any language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85032" y="320040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F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Translate, Comprehend Medical and Polly around the interview, so the patient is questioned in their own language.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952744" y="32918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81344" y="1828800"/>
            <a:ext cx="2542032" cy="3383280"/>
          </a:xfrm>
          <a:prstGeom prst="roundRect">
            <a:avLst>
              <a:gd name="adj" fmla="val 4317"/>
            </a:avLst>
          </a:prstGeom>
          <a:solidFill>
            <a:srgbClr val="16323F"/>
          </a:solidFill>
          <a:ln w="12700">
            <a:solidFill>
              <a:srgbClr val="2450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55664" y="2084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55664" y="2423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whole patient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55664" y="320040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F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and radiology reports, HealthLake/FHIR interop, pgvector cohort search over similar cases.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723376" y="32918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951976" y="1828800"/>
            <a:ext cx="2542032" cy="3383280"/>
          </a:xfrm>
          <a:prstGeom prst="roundRect">
            <a:avLst>
              <a:gd name="adj" fmla="val 4317"/>
            </a:avLst>
          </a:prstGeom>
          <a:solidFill>
            <a:srgbClr val="16323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26296" y="2084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6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226296" y="2423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ward, measured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26296" y="320040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F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hospital, one ward, with time-to-diagnosis and rejection reasons tracked as the evidence for the regulatory path.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8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is already built and deployed. Everything above plugs into a seam that exists today.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566160"/>
            <a:ext cx="4023360" cy="4023360"/>
          </a:xfrm>
          <a:prstGeom prst="ellipse">
            <a:avLst/>
          </a:prstGeom>
          <a:ln w="25400">
            <a:solidFill>
              <a:srgbClr val="1A42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-822960"/>
            <a:ext cx="3840480" cy="3840480"/>
          </a:xfrm>
          <a:prstGeom prst="ellipse">
            <a:avLst/>
          </a:prstGeom>
          <a:ln w="25400">
            <a:solidFill>
              <a:srgbClr val="1A42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32720" y="4206240"/>
            <a:ext cx="2377440" cy="2377440"/>
          </a:xfrm>
          <a:prstGeom prst="ellipse">
            <a:avLst/>
          </a:prstGeom>
          <a:ln w="19050">
            <a:solidFill>
              <a:srgbClr val="1A42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5212080"/>
            <a:ext cx="310896" cy="3108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0" y="1463040"/>
            <a:ext cx="219456" cy="219456"/>
          </a:xfrm>
          <a:prstGeom prst="ellipse">
            <a:avLst/>
          </a:prstGeom>
          <a:solidFill>
            <a:srgbClr val="6FE3C4"/>
          </a:solidFill>
          <a:ln w="12700">
            <a:solidFill>
              <a:srgbClr val="6FE3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2860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20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— especially the hard clinical ones.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Byters  ·  Sehati — AI Clinical Decision Support  ·  Decision support for a licensed physician, never a directive.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Sehati — AI Clinical Decision Support</dc:title>
  <dc:subject>PptxGenJS Presentation</dc:subject>
  <dc:creator>Team Byters</dc:creator>
  <cp:lastModifiedBy>Team Byters</cp:lastModifiedBy>
  <cp:revision>1</cp:revision>
  <dcterms:created xsi:type="dcterms:W3CDTF">2026-09-05T20:50:18Z</dcterms:created>
  <dcterms:modified xsi:type="dcterms:W3CDTF">2026-09-05T20:50:18Z</dcterms:modified>
</cp:coreProperties>
</file>